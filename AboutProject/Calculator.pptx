
<file path=[Content_Types].xml><?xml version="1.0" encoding="utf-8"?>
<Types xmlns="http://schemas.openxmlformats.org/package/2006/content-types"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5" cy="5143683"/>
  <p:notesSz cx="5143683" cy="9144005"/>
  <p:defaultTextStyle>
    <a:defPPr/>
    <a:lvl1pPr algn="l" lvl="0" marL="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1pPr>
    <a:lvl2pPr algn="l" lvl="1" marL="4572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2pPr>
    <a:lvl3pPr algn="l" lvl="2" marL="9144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3pPr>
    <a:lvl4pPr algn="l" lvl="3" marL="13716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4pPr>
    <a:lvl5pPr algn="l" lvl="4" marL="18288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5pPr>
    <a:lvl6pPr algn="l" lvl="5" marL="22860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6pPr>
    <a:lvl7pPr algn="l" lvl="6" marL="27432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7pPr>
    <a:lvl8pPr algn="l" lvl="7" marL="32004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8pPr>
    <a:lvl9pPr algn="l" lvl="8" marL="3657600" marR="0">
      <a:lnSpc>
        <a:spcPct val="100000"/>
      </a:lnSpc>
      <a:spcBef>
        <a:spcPts val="0"/>
      </a:spcBef>
      <a:spcAft>
        <a:spcPts val="0"/>
      </a:spcAft>
      <a:defRPr spc="0" sz="1600">
        <a:solidFill>
          <a:srgbClr val="000000"/>
        </a:solidFill>
        <a:highlight>
          <a:srgbClr val="000000">
            <a:alpha val="0"/>
          </a:srgbClr>
        </a:highlight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>
  <a:tblStyle styleId="{6CCA49DA-CB45-4946-9BEE-3CDAD6C900EF}" styleName="MyOffice Default Table Style">
    <a:wholeTbl>
      <a:tcTxStyle b="def" i="def"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solid"/>
            </a:ln>
          </a:left>
          <a:right>
            <a:ln w="12700">
              <a:solidFill>
                <a:schemeClr val="lt1"/>
              </a:solidFill>
              <a:prstDash val="solid"/>
            </a:ln>
          </a:right>
          <a:top>
            <a:ln w="12700">
              <a:solidFill>
                <a:schemeClr val="lt1"/>
              </a:solidFill>
              <a:prstDash val="solid"/>
            </a:ln>
          </a:top>
          <a:bottom>
            <a:ln w="12700">
              <a:solidFill>
                <a:schemeClr val="lt1"/>
              </a:solidFill>
              <a:prstDash val="solid"/>
            </a:ln>
          </a:bottom>
          <a:insideH>
            <a:ln w="12700">
              <a:solidFill>
                <a:schemeClr val="lt1"/>
              </a:solidFill>
              <a:prstDash val="solid"/>
            </a:ln>
          </a:insideH>
          <a:insideV>
            <a:ln w="12700">
              <a:solidFill>
                <a:schemeClr val="lt1"/>
              </a:solidFill>
              <a:prstDash val="solid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 b="def" i="def"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  <a:prstDash val="solid"/>
            </a:ln>
          </a:left>
          <a:right>
            <a:ln w="12700">
              <a:solidFill>
                <a:schemeClr val="lt1"/>
              </a:solidFill>
              <a:prstDash val="solid"/>
            </a:ln>
          </a:right>
          <a:top>
            <a:ln w="12700">
              <a:solidFill>
                <a:schemeClr val="lt1"/>
              </a:solidFill>
              <a:prstDash val="solid"/>
            </a:ln>
          </a:top>
          <a:bottom>
            <a:ln w="12700">
              <a:solidFill>
                <a:schemeClr val="lt1"/>
              </a:solidFill>
              <a:prstDash val="solid"/>
            </a:ln>
          </a:bottom>
          <a:insideH>
            <a:ln w="12700">
              <a:solidFill>
                <a:schemeClr val="lt1"/>
              </a:solidFill>
              <a:prstDash val="solid"/>
            </a:ln>
          </a:insideH>
          <a:insideV>
            <a:ln w="12700">
              <a:solidFill>
                <a:schemeClr val="lt1"/>
              </a:solidFill>
              <a:prstDash val="solid"/>
            </a:ln>
          </a:insideV>
        </a:tcBdr>
        <a:fill>
          <a:solidFill>
            <a:schemeClr val="accent1">
              <a:tint val="40000"/>
            </a:schemeClr>
          </a:solidFill>
        </a:fill>
      </a:tcStyle>
    </a:band1H>
  </a:tblStyle>
</a:tblStyleLst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0" Target="tableStyles.xml" Type="http://schemas.openxmlformats.org/officeDocument/2006/relationships/tableStyles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xfrm flipH="false" flipV="false" rot="0">
            <a:off x="1143001" y="841801"/>
            <a:ext cx="6858004" cy="3458823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4999" lIns="89999" rIns="89999" tIns="44999" wrap="square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5" cy="994208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4999" lIns="89999" rIns="89999" tIns="44999" wrap="square">
            <a:noAutofit/>
          </a:bodyPr>
          <a:lstStyle>
            <a:defPPr/>
            <a:lvl1pPr algn="l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1pPr>
            <a:lvl2pPr algn="l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2pPr>
            <a:lvl3pPr algn="l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3pPr>
            <a:lvl4pPr algn="l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4pPr>
            <a:lvl5pPr algn="l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5pPr>
            <a:lvl6pPr algn="l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6pPr>
            <a:lvl7pPr algn="l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7pPr>
            <a:lvl8pPr algn="l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8pPr>
            <a:lvl9pPr algn="l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9pPr>
          </a:lstStyle>
          <a:p/>
        </p:txBody>
      </p:sp>
      <p:sp>
        <p:nvSpPr>
          <p:cNvPr hidden="false" id="15" name="Shape 15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5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4999" lIns="89999" rIns="89999" tIns="44999" wrap="square">
            <a:noAutofit/>
          </a:bodyPr>
          <a:lstStyle>
            <a:defPPr/>
            <a:lvl1pPr algn="l" indent="-314325" lvl="0" marL="31432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800">
                <a:latin typeface="+mn-lt"/>
                <a:ea typeface="+mn-ea"/>
                <a:cs typeface="+mn-cs"/>
              </a:defRPr>
            </a:lvl1pPr>
            <a:lvl2pPr algn="l" indent="-279400" lvl="1" marL="736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600">
                <a:latin typeface="+mn-lt"/>
                <a:ea typeface="+mn-ea"/>
                <a:cs typeface="+mn-cs"/>
              </a:defRPr>
            </a:lvl2pPr>
            <a:lvl3pPr algn="l" indent="-244475" lvl="2" marL="11588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3pPr>
            <a:lvl4pPr algn="l" indent="-244475" lvl="3" marL="16160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4pPr>
            <a:lvl5pPr algn="l" indent="-244475" lvl="4" marL="20732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5pPr>
            <a:lvl6pPr algn="l" indent="-244475" lvl="5" marL="25304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6pPr>
            <a:lvl7pPr algn="l" indent="-244475" lvl="6" marL="29876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7pPr>
            <a:lvl8pPr algn="l" indent="-244475" lvl="7" marL="34448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8pPr>
            <a:lvl9pPr algn="l" indent="-244475" lvl="8" marL="39020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xfrm flipH="false" flipV="false" rot="0">
            <a:off x="1143001" y="841801"/>
            <a:ext cx="6858004" cy="1790763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b" bIns="44999" lIns="89999" rIns="89999" tIns="44999" wrap="square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>
                <a:latin typeface="+mj-lt"/>
                <a:ea typeface="+mj-ea"/>
                <a:cs typeface="+mj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2" type="subTitle"/>
          </p:nvPr>
        </p:nvSpPr>
        <p:spPr>
          <a:xfrm flipH="false" flipV="false" rot="0">
            <a:off x="1143001" y="2701624"/>
            <a:ext cx="6858004" cy="1241865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4999" lIns="89999" rIns="89999" tIns="44999" wrap="square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5" cy="994208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4999" lIns="89999" rIns="89999" tIns="44999" wrap="square">
            <a:noAutofit/>
          </a:bodyPr>
          <a:lstStyle>
            <a:defPPr/>
            <a:lvl1pPr algn="l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1pPr>
            <a:lvl2pPr algn="l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2pPr>
            <a:lvl3pPr algn="l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3pPr>
            <a:lvl4pPr algn="l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4pPr>
            <a:lvl5pPr algn="l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5pPr>
            <a:lvl6pPr algn="l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6pPr>
            <a:lvl7pPr algn="l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7pPr>
            <a:lvl8pPr algn="l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8pPr>
            <a:lvl9pPr algn="l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9" name="GroupShape 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" name="Shape 10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5" cy="994208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4999" lIns="89999" rIns="89999" tIns="44999" wrap="square">
            <a:noAutofit/>
          </a:bodyPr>
          <a:lstStyle>
            <a:defPPr/>
            <a:lvl1pPr algn="l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1pPr>
            <a:lvl2pPr algn="l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2pPr>
            <a:lvl3pPr algn="l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3pPr>
            <a:lvl4pPr algn="l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4pPr>
            <a:lvl5pPr algn="l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5pPr>
            <a:lvl6pPr algn="l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6pPr>
            <a:lvl7pPr algn="l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7pPr>
            <a:lvl8pPr algn="l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8pPr>
            <a:lvl9pPr algn="l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3000">
                <a:latin typeface="+mj-lt"/>
                <a:ea typeface="+mj-ea"/>
                <a:cs typeface="+mj-cs"/>
              </a:defRPr>
            </a:lvl9pPr>
          </a:lstStyle>
          <a:p/>
        </p:txBody>
      </p:sp>
      <p:sp>
        <p:nvSpPr>
          <p:cNvPr hidden="false" id="11" name="Shape 11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4999" lIns="89999" rIns="89999" tIns="44999" wrap="square">
            <a:noAutofit/>
          </a:bodyPr>
          <a:lstStyle>
            <a:defPPr/>
            <a:lvl1pPr algn="l" indent="-314325" lvl="0" marL="31432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800">
                <a:latin typeface="+mn-lt"/>
                <a:ea typeface="+mn-ea"/>
                <a:cs typeface="+mn-cs"/>
              </a:defRPr>
            </a:lvl1pPr>
            <a:lvl2pPr algn="l" indent="-279400" lvl="1" marL="736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600">
                <a:latin typeface="+mn-lt"/>
                <a:ea typeface="+mn-ea"/>
                <a:cs typeface="+mn-cs"/>
              </a:defRPr>
            </a:lvl2pPr>
            <a:lvl3pPr algn="l" indent="-244475" lvl="2" marL="11588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3pPr>
            <a:lvl4pPr algn="l" indent="-244475" lvl="3" marL="16160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4pPr>
            <a:lvl5pPr algn="l" indent="-244475" lvl="4" marL="20732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5pPr>
            <a:lvl6pPr algn="l" indent="-244475" lvl="5" marL="25304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6pPr>
            <a:lvl7pPr algn="l" indent="-244475" lvl="6" marL="29876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7pPr>
            <a:lvl8pPr algn="l" indent="-244475" lvl="7" marL="34448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8pPr>
            <a:lvl9pPr algn="l" indent="-244475" lvl="8" marL="39020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12" name="Shape 12"/>
          <p:cNvSpPr txBox="true"/>
          <p:nvPr isPhoto="false">
            <p:ph idx="3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4999" lIns="89999" rIns="89999" tIns="44999" wrap="square">
            <a:noAutofit/>
          </a:bodyPr>
          <a:lstStyle>
            <a:defPPr/>
            <a:lvl1pPr algn="l" indent="-314325" lvl="0" marL="31432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800">
                <a:latin typeface="+mn-lt"/>
                <a:ea typeface="+mn-ea"/>
                <a:cs typeface="+mn-cs"/>
              </a:defRPr>
            </a:lvl1pPr>
            <a:lvl2pPr algn="l" indent="-279400" lvl="1" marL="736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600">
                <a:latin typeface="+mn-lt"/>
                <a:ea typeface="+mn-ea"/>
                <a:cs typeface="+mn-cs"/>
              </a:defRPr>
            </a:lvl2pPr>
            <a:lvl3pPr algn="l" indent="-244475" lvl="2" marL="11588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3pPr>
            <a:lvl4pPr algn="l" indent="-244475" lvl="3" marL="16160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4pPr>
            <a:lvl5pPr algn="l" indent="-244475" lvl="4" marL="20732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5pPr>
            <a:lvl6pPr algn="l" indent="-244475" lvl="5" marL="25304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6pPr>
            <a:lvl7pPr algn="l" indent="-244475" lvl="6" marL="29876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7pPr>
            <a:lvl8pPr algn="l" indent="-244475" lvl="7" marL="34448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8pPr>
            <a:lvl9pPr algn="l" indent="-244475" lvl="8" marL="390207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Char char=""/>
              <a:defRPr sz="1400">
                <a:latin typeface="+mn-lt"/>
                <a:ea typeface="+mn-ea"/>
                <a:cs typeface="+mn-cs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5" cy="994208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4999" lIns="89999" rIns="89999" tIns="44999" wrap="square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5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4999" lIns="89999" rIns="89999" tIns="44999" wrap="square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pc="0" sz="3000">
          <a:solidFill>
            <a:srgbClr val="000000"/>
          </a:solidFill>
          <a:highlight>
            <a:srgbClr val="000000">
              <a:alpha val="0"/>
            </a:srgbClr>
          </a:highlight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8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4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4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4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4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4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4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pc="0" sz="14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9pPr>
    </p:bodyStyle>
    <p:otherStyle>
      <a:defPPr/>
      <a:lvl1pPr algn="l" lvl="0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1pPr>
      <a:lvl2pPr algn="l" lvl="1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2pPr>
      <a:lvl3pPr algn="l" lvl="2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3pPr>
      <a:lvl4pPr algn="l" lvl="3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4pPr>
      <a:lvl5pPr algn="l" lvl="4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5pPr>
      <a:lvl6pPr algn="l" lvl="5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6pPr>
      <a:lvl7pPr algn="l" lvl="6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7pPr>
      <a:lvl8pPr algn="l" lvl="7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8pPr>
      <a:lvl9pPr algn="l" lvl="8" marR="0">
        <a:lnSpc>
          <a:spcPct val="100000"/>
        </a:lnSpc>
        <a:spcBef>
          <a:spcPts val="0"/>
        </a:spcBef>
        <a:spcAft>
          <a:spcPts val="0"/>
        </a:spcAft>
        <a:defRPr spc="0" sz="1600">
          <a:solidFill>
            <a:srgbClr val="000000"/>
          </a:solidFill>
          <a:highlight>
            <a:srgbClr val="000000">
              <a:alpha val="0"/>
            </a:srgbClr>
          </a:highlight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2.png" Type="http://schemas.openxmlformats.org/officeDocument/2006/relationships/image"/>
  <Relationship Id="rId2" Target="../media/3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4.png" Type="http://schemas.openxmlformats.org/officeDocument/2006/relationships/image"/>
  <Relationship Id="rId2" Target="../media/5.png" Type="http://schemas.openxmlformats.org/officeDocument/2006/relationships/image"/>
  <Relationship Id="rId3" Target="../media/6.png" Type="http://schemas.openxmlformats.org/officeDocument/2006/relationships/image"/>
  <Relationship Id="rId4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7.png" Type="http://schemas.openxmlformats.org/officeDocument/2006/relationships/image"/>
  <Relationship Id="rId2" Target="../media/8.png" Type="http://schemas.openxmlformats.org/officeDocument/2006/relationships/image"/>
  <Relationship Id="rId3" Target="../media/9.png" Type="http://schemas.openxmlformats.org/officeDocument/2006/relationships/image"/>
  <Relationship Id="rId4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false"/>
          <p:nvPr isPhoto="false"/>
        </p:nvSpPr>
        <p:spPr>
          <a:xfrm flipH="false" flipV="false" rot="0">
            <a:off x="-2358571" y="3728448"/>
            <a:ext cx="7566069" cy="4708570"/>
          </a:xfrm>
          <a:prstGeom prst="ellipse">
            <a:avLst/>
          </a:prstGeom>
          <a:solidFill>
            <a:srgbClr val="960A3C"/>
          </a:solidFill>
          <a:ln w="12700">
            <a:solidFill>
              <a:schemeClr val="accent1">
                <a:lumMod val="75000"/>
              </a:schemeClr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" name="Shape 21"/>
          <p:cNvSpPr txBox="false"/>
          <p:nvPr isPhoto="false"/>
        </p:nvSpPr>
        <p:spPr>
          <a:xfrm flipH="false" flipV="false" rot="0">
            <a:off x="3605893" y="4113984"/>
            <a:ext cx="3143747" cy="3143747"/>
          </a:xfrm>
          <a:prstGeom prst="ellipse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" name="Shape 22"/>
          <p:cNvSpPr txBox="false"/>
          <p:nvPr isPhoto="false"/>
        </p:nvSpPr>
        <p:spPr>
          <a:xfrm flipH="false" flipV="false" rot="0">
            <a:off x="4989285" y="3365591"/>
            <a:ext cx="5094105" cy="2213926"/>
          </a:xfrm>
          <a:prstGeom prst="ellipse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" name="Shape 23"/>
          <p:cNvSpPr txBox="false"/>
          <p:nvPr isPhoto="false"/>
        </p:nvSpPr>
        <p:spPr>
          <a:xfrm flipH="false" flipV="false" rot="0">
            <a:off x="6916964" y="2639876"/>
            <a:ext cx="2780891" cy="2599462"/>
          </a:xfrm>
          <a:prstGeom prst="ellipse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" name="Shape 24"/>
          <p:cNvSpPr txBox="false"/>
          <p:nvPr isPhoto="false"/>
        </p:nvSpPr>
        <p:spPr>
          <a:xfrm flipH="false" flipV="false" rot="0">
            <a:off x="7665357" y="2503806"/>
            <a:ext cx="3098390" cy="1079997"/>
          </a:xfrm>
          <a:prstGeom prst="ellipse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" name="Shape 25"/>
          <p:cNvSpPr txBox="false"/>
          <p:nvPr isPhoto="false"/>
        </p:nvSpPr>
        <p:spPr>
          <a:xfrm flipH="false" flipV="false" rot="0">
            <a:off x="-1859643" y="3320234"/>
            <a:ext cx="4300354" cy="1737676"/>
          </a:xfrm>
          <a:prstGeom prst="ellipse">
            <a:avLst/>
          </a:prstGeom>
          <a:solidFill>
            <a:srgbClr val="960A3C"/>
          </a:solidFill>
          <a:ln w="12700">
            <a:solidFill>
              <a:srgbClr val="960A3C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" name="Shape 26"/>
          <p:cNvSpPr txBox="true"/>
          <p:nvPr isPhoto="false"/>
        </p:nvSpPr>
        <p:spPr>
          <a:xfrm flipH="false" flipV="false" rot="0">
            <a:off x="657678" y="417376"/>
            <a:ext cx="7591430" cy="1741714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r>
              <a:rPr b="true" sz="3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Проект «Калькулятор – коллекция миниигр»</a:t>
            </a:r>
            <a:endParaRPr b="true" sz="3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indent="0" marL="0">
              <a:buNone/>
            </a:pPr>
            <a:r>
              <a:rPr b="true" sz="3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(Calculator Game)</a:t>
            </a:r>
            <a:endParaRPr b="true" sz="3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" name="Shape 27"/>
          <p:cNvSpPr txBox="true"/>
          <p:nvPr isPhoto="false"/>
        </p:nvSpPr>
        <p:spPr>
          <a:xfrm flipH="false" flipV="false" rot="0">
            <a:off x="181428" y="3796484"/>
            <a:ext cx="3600001" cy="1333500"/>
          </a:xfrm>
          <a:prstGeom prst="rect">
            <a:avLst/>
          </a:prstGeom>
          <a:noFill/>
          <a:ln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 anchor="t" bIns="46799" lIns="89999" rIns="89999" tIns="46799" wrap="square">
            <a:noAutofit/>
          </a:bodyPr>
          <a:lstStyle>
            <a:defPPr/>
            <a:lvl1pPr lvl="0">
              <a:buFont typeface="Arial"/>
              <a:buChar char="•"/>
            </a:lvl1pPr>
            <a:lvl2pPr lvl="1">
              <a:buFont typeface="Courier New"/>
              <a:buChar char="o"/>
            </a:lvl2pPr>
            <a:lvl3pPr lvl="2">
              <a:buFont typeface="Wingdings"/>
              <a:buChar char="§"/>
            </a:lvl3pPr>
            <a:lvl4pPr lvl="3">
              <a:buFont typeface="Arial"/>
              <a:buChar char="•"/>
            </a:lvl4pPr>
            <a:lvl5pPr lvl="4">
              <a:buFont typeface="Courier New"/>
              <a:buChar char="o"/>
            </a:lvl5pPr>
            <a:lvl6pPr lvl="5">
              <a:buFont typeface="Wingdings"/>
              <a:buChar char="§"/>
            </a:lvl6pPr>
            <a:lvl7pPr lvl="6">
              <a:buFont typeface="Arial"/>
              <a:buChar char="•"/>
            </a:lvl7pPr>
            <a:lvl8pPr lvl="7">
              <a:buFont typeface="Courier New"/>
              <a:buChar char="o"/>
            </a:lvl8pPr>
            <a:lvl9pPr indent="0" lvl="8" marL="3657600">
              <a:buFont typeface="Wingdings"/>
              <a:buChar char="§"/>
            </a:lvl9pPr>
          </a:lstStyle>
          <a:p>
            <a:pPr algn="l" indent="0" marL="0">
              <a:buNone/>
            </a:pPr>
            <a:r>
              <a:rPr b="true" sz="20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+mn-lt"/>
                <a:ea typeface="+mn-ea"/>
                <a:cs typeface="+mn-cs"/>
              </a:rPr>
              <a:t>Разработчики:</a:t>
            </a:r>
            <a:endParaRPr b="true" sz="2000">
              <a:solidFill>
                <a:srgbClr val="FFFFFF"/>
              </a:solidFill>
              <a:highlight>
                <a:srgbClr val="000000">
                  <a:alpha val="0"/>
                </a:srgbClr>
              </a:highlight>
              <a:latin typeface="+mn-lt"/>
              <a:ea typeface="+mn-ea"/>
              <a:cs typeface="+mn-cs"/>
            </a:endParaRPr>
          </a:p>
          <a:p>
            <a:pPr algn="l" indent="-279400" marL="279400">
              <a:buFont typeface="Arial"/>
              <a:buChar char="•"/>
            </a:pPr>
            <a:r>
              <a:rPr b="true" sz="20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+mn-lt"/>
                <a:ea typeface="+mn-ea"/>
                <a:cs typeface="+mn-cs"/>
              </a:rPr>
              <a:t>Аникин Роман</a:t>
            </a:r>
            <a:endParaRPr b="true" sz="2000">
              <a:solidFill>
                <a:srgbClr val="FFFFFF"/>
              </a:solidFill>
              <a:highlight>
                <a:srgbClr val="000000">
                  <a:alpha val="0"/>
                </a:srgbClr>
              </a:highlight>
              <a:latin typeface="+mn-lt"/>
              <a:ea typeface="+mn-ea"/>
              <a:cs typeface="+mn-cs"/>
            </a:endParaRPr>
          </a:p>
          <a:p>
            <a:pPr algn="l" indent="-279400" marL="279400">
              <a:buFont typeface="Arial"/>
              <a:buChar char="•"/>
            </a:pPr>
            <a:r>
              <a:rPr b="true" sz="20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+mn-lt"/>
                <a:ea typeface="+mn-ea"/>
                <a:cs typeface="+mn-cs"/>
              </a:rPr>
              <a:t>Лугов Святослав</a:t>
            </a:r>
            <a:endParaRPr b="true" sz="2000">
              <a:solidFill>
                <a:srgbClr val="FFFFFF"/>
              </a:solidFill>
              <a:highlight>
                <a:srgbClr val="000000">
                  <a:alpha val="0"/>
                </a:srgbClr>
              </a:highlight>
              <a:latin typeface="+mn-lt"/>
              <a:ea typeface="+mn-ea"/>
              <a:cs typeface="+mn-cs"/>
            </a:endParaRPr>
          </a:p>
          <a:p>
            <a:pPr algn="l" indent="-279400" marL="279400">
              <a:buFont typeface="Arial"/>
              <a:buChar char="•"/>
            </a:pPr>
            <a:r>
              <a:rPr b="true" sz="200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+mn-lt"/>
                <a:ea typeface="+mn-ea"/>
                <a:cs typeface="+mn-cs"/>
              </a:rPr>
              <a:t>Семчик Максим</a:t>
            </a:r>
            <a:endParaRPr b="true" sz="2000">
              <a:solidFill>
                <a:srgbClr val="FFFFFF"/>
              </a:solidFill>
              <a:highlight>
                <a:srgbClr val="000000">
                  <a:alpha val="0"/>
                </a:srgbClr>
              </a:highlight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8" name="GroupShape 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9" name="Shape 29"/>
          <p:cNvSpPr txBox="false"/>
          <p:nvPr isPhoto="false"/>
        </p:nvSpPr>
        <p:spPr>
          <a:xfrm flipH="false" flipV="false" rot="0">
            <a:off x="2533650" y="723991"/>
            <a:ext cx="13729196" cy="8966698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" name="Shape 3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 indent="0" marL="0">
              <a:buNone/>
            </a:pPr>
            <a:r>
              <a:rPr b="true" sz="3500"/>
              <a:t>Цель и задачи:</a:t>
            </a:r>
            <a:endParaRPr b="true" sz="3500"/>
          </a:p>
        </p:txBody>
      </p:sp>
      <p:pic>
        <p:nvPicPr>
          <p:cNvPr hidden="false" id="32" name="Picture 32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5429252" y="3381466"/>
            <a:ext cx="3761766" cy="1856186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sp>
        <p:nvSpPr>
          <p:cNvPr hidden="false" id="33" name="Shape 3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indent="0" marL="0">
              <a:buNone/>
            </a:pPr>
            <a:r>
              <a:rPr b="true" sz="2000"/>
              <a:t>Цель:</a:t>
            </a:r>
            <a:endParaRPr b="true" sz="2000"/>
          </a:p>
          <a:p>
            <a:pPr indent="-314325" marL="314325">
              <a:buFont typeface="Arial"/>
              <a:buChar char="•"/>
            </a:pPr>
            <a:r>
              <a:rPr sz="2000"/>
              <a:t>Создать проект на Arcade</a:t>
            </a:r>
            <a:endParaRPr sz="2000"/>
          </a:p>
          <a:p>
            <a:pPr indent="0" marL="0">
              <a:buNone/>
            </a:pPr>
            <a:r>
              <a:rPr b="true" sz="2000"/>
              <a:t>Задачи:</a:t>
            </a:r>
            <a:endParaRPr b="true" sz="2000"/>
          </a:p>
          <a:p>
            <a:pPr indent="-314325" marL="314325">
              <a:buFont typeface="Arial"/>
              <a:buChar char="•"/>
            </a:pPr>
            <a:r>
              <a:rPr sz="2000"/>
              <a:t>Разработать меню в виде калькулятора</a:t>
            </a:r>
            <a:endParaRPr sz="2000"/>
          </a:p>
          <a:p>
            <a:pPr indent="-314325" marL="314325">
              <a:buFont typeface="Arial"/>
              <a:buChar char="•"/>
            </a:pPr>
            <a:r>
              <a:rPr sz="2000"/>
              <a:t>Написать мини-игры</a:t>
            </a:r>
            <a:endParaRPr sz="2000"/>
          </a:p>
          <a:p>
            <a:pPr indent="-314325" marL="314325">
              <a:buFont typeface="Arial"/>
              <a:buChar char="•"/>
            </a:pPr>
            <a:r>
              <a:rPr sz="2000"/>
              <a:t>Проработать гайдбук-казино</a:t>
            </a:r>
            <a:endParaRPr sz="2000"/>
          </a:p>
          <a:p>
            <a:pPr indent="-314325" marL="314325">
              <a:buFont typeface="Arial"/>
              <a:buChar char="•"/>
            </a:pPr>
            <a:r>
              <a:rPr sz="2000"/>
              <a:t>Проверить игру на баги</a:t>
            </a:r>
            <a:endParaRPr sz="2000"/>
          </a:p>
          <a:p>
            <a:pPr indent="-314325" marL="314325">
              <a:buFont typeface="Arial"/>
              <a:buChar char="•"/>
            </a:pPr>
            <a:r>
              <a:rPr sz="2000"/>
              <a:t>Не вылететь с курса</a:t>
            </a:r>
            <a:endParaRPr sz="2000"/>
          </a:p>
          <a:p>
            <a:pPr indent="-314325" marL="314325">
              <a:buFont typeface="Arial"/>
              <a:buChar char="•"/>
            </a:pPr>
            <a:r>
              <a:rPr sz="2000"/>
              <a:t>Получить жизеспособный продукт</a:t>
            </a:r>
            <a:endParaRPr sz="2000"/>
          </a:p>
        </p:txBody>
      </p:sp>
      <p:sp>
        <p:nvSpPr>
          <p:cNvPr hidden="false" id="34" name="Shape 34"/>
          <p:cNvSpPr txBox="false"/>
          <p:nvPr isPhoto="false"/>
        </p:nvSpPr>
        <p:spPr>
          <a:xfrm flipH="false" flipV="false" rot="0">
            <a:off x="-1104900" y="-1390558"/>
            <a:ext cx="2775447" cy="2421890"/>
          </a:xfrm>
          <a:prstGeom prst="triangle">
            <a:avLst>
              <a:gd fmla="val 50000" name="adj"/>
            </a:avLst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5" name="GroupShape 3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6" name="Shape 36"/>
          <p:cNvSpPr txBox="false"/>
          <p:nvPr isPhoto="false"/>
        </p:nvSpPr>
        <p:spPr>
          <a:xfrm flipH="false" flipV="false" rot="0">
            <a:off x="6379310" y="-2995897"/>
            <a:ext cx="5594848" cy="5594848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" name="Shape 37"/>
          <p:cNvSpPr txBox="false"/>
          <p:nvPr isPhoto="false"/>
        </p:nvSpPr>
        <p:spPr>
          <a:xfrm flipH="false" flipV="false" rot="0">
            <a:off x="-4419600" y="723991"/>
            <a:ext cx="8909547" cy="8909547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" name="Shape 3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 indent="0" marL="0">
              <a:buNone/>
            </a:pPr>
            <a:r>
              <a:rPr b="true" sz="3500"/>
              <a:t>Аналоги и их сравнение</a:t>
            </a:r>
            <a:endParaRPr b="true" sz="3500"/>
          </a:p>
        </p:txBody>
      </p:sp>
      <p:sp>
        <p:nvSpPr>
          <p:cNvPr hidden="false" id="39" name="Shape 39"/>
          <p:cNvSpPr txBox="true"/>
          <p:nvPr isPhoto="false">
            <p:ph idx="1" type="body"/>
          </p:nvPr>
        </p:nvSpPr>
        <p:spPr>
          <a:xfrm flipH="false" flipV="false" rot="0">
            <a:off x="666752" y="1349466"/>
            <a:ext cx="7886705" cy="326361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indent="-314325" marL="314325">
              <a:buFont typeface="Arial"/>
              <a:buChar char="•"/>
            </a:pPr>
            <a:r>
              <a:rPr sz="2000"/>
              <a:t>Калькулятор Windows 10: </a:t>
            </a:r>
            <a:endParaRPr sz="2000"/>
          </a:p>
          <a:p>
            <a:pPr indent="0" marL="0">
              <a:buNone/>
            </a:pPr>
            <a:endParaRPr sz="2000"/>
          </a:p>
          <a:p>
            <a:pPr indent="-314325" marL="314325">
              <a:buFont typeface="Arial"/>
              <a:buChar char="•"/>
            </a:pPr>
            <a:r>
              <a:rPr sz="2000"/>
              <a:t>Калькулятор:</a:t>
            </a:r>
            <a:endParaRPr sz="2000"/>
          </a:p>
          <a:p>
            <a:pPr indent="0" marL="0">
              <a:buNone/>
            </a:pPr>
            <a:endParaRPr sz="2000"/>
          </a:p>
          <a:p>
            <a:pPr indent="0" marL="0">
              <a:buNone/>
            </a:pPr>
            <a:endParaRPr sz="2000"/>
          </a:p>
          <a:p>
            <a:pPr indent="0" marL="0">
              <a:buNone/>
            </a:pPr>
            <a:endParaRPr sz="2000"/>
          </a:p>
          <a:p>
            <a:pPr indent="-314325" marL="314325">
              <a:buFont typeface="Arial"/>
              <a:buChar char="•"/>
            </a:pPr>
            <a:r>
              <a:rPr sz="2000"/>
              <a:t>This is not a game</a:t>
            </a:r>
            <a:endParaRPr sz="2000"/>
          </a:p>
          <a:p>
            <a:pPr indent="0" marL="0">
              <a:buNone/>
            </a:pPr>
            <a:endParaRPr sz="2000"/>
          </a:p>
          <a:p>
            <a:pPr indent="0" marL="0">
              <a:buNone/>
            </a:pPr>
            <a:endParaRPr sz="2000"/>
          </a:p>
        </p:txBody>
      </p:sp>
      <p:pic>
        <p:nvPicPr>
          <p:cNvPr hidden="false" id="41" name="Picture 41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4381502" y="1412966"/>
            <a:ext cx="790220" cy="501115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pic>
        <p:nvPicPr>
          <p:cNvPr hidden="false" id="43" name="Picture 43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4381502" y="1952716"/>
            <a:ext cx="1047732" cy="1689319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graphicFrame>
        <p:nvGraphicFramePr>
          <p:cNvPr hidden="false" id="44" name="Table 44"/>
          <p:cNvGraphicFramePr/>
          <p:nvPr isPhoto="false"/>
        </p:nvGraphicFramePr>
        <p:xfrm flipH="false" flipV="false" rot="0">
          <a:off x="647700" y="1371691"/>
          <a:ext cx="7886701" cy="3239341"/>
        </p:xfrm>
        <a:graphic>
          <a:graphicData uri="http://schemas.openxmlformats.org/drawingml/2006/table">
            <a:tbl>
              <a:tblPr bandCol="true" bandRow="true" firstCol="false" firstRow="false" lastCol="false" lastRow="false">
                <a:noFill/>
                <a:tableStyleId>{6CCA49DA-CB45-4946-9BEE-3CDAD6C900EF}</a:tableStyleId>
              </a:tblPr>
              <a:tblGrid>
                <a:gridCol w="1966554"/>
                <a:gridCol w="1987035"/>
                <a:gridCol w="2038533"/>
                <a:gridCol w="1966554"/>
              </a:tblGrid>
              <a:tr h="809835">
                <a:tc gridSpan="1" hMerge="false" rowSpan="1" vMerge="false">
                  <a:txBody>
                    <a:bodyPr/>
                    <a:p>
                      <a:pPr algn="ctr"/>
                      <a:r>
                        <a:t>Аналог:</a:t>
                      </a:r>
                    </a:p>
                  </a:txBody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Функциональность</a:t>
                      </a:r>
                    </a:p>
                  </a:txBody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Развлекательность</a:t>
                      </a:r>
                    </a:p>
                  </a:txBody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Популярность</a:t>
                      </a:r>
                    </a:p>
                  </a:txBody>
                  <a:tcPr anchor="t" anchorCtr="false" marB="45720" marL="91440" marR="91440" marT="45720" vert="horz"/>
                </a:tc>
              </a:tr>
              <a:tr h="809835">
                <a:tc gridSpan="1" hMerge="false" rowSpan="1" vMerge="false">
                  <a:txBody>
                    <a:bodyPr/>
                    <a:p>
                      <a:r>
                        <a:t>Калькулятор Win10</a:t>
                      </a:r>
                    </a:p>
                  </a:txBody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+</a:t>
                      </a:r>
                    </a:p>
                  </a:txBody>
                  <a:tcPr anchor="ctr" anchorCtr="false" marB="45720" marL="91440" marR="91440" marT="45720" vert="horz"/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-</a:t>
                      </a:r>
                    </a:p>
                  </a:txBody>
                  <a:tcPr anchor="ctr" anchorCtr="false" marB="45720" marL="91440" marR="91440" marT="45720" vert="horz"/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+</a:t>
                      </a:r>
                    </a:p>
                  </a:txBody>
                  <a:tcPr anchor="ctr" anchorCtr="false" marB="45720" marL="91440" marR="91440" marT="45720" vert="horz"/>
                </a:tc>
              </a:tr>
              <a:tr h="809835">
                <a:tc gridSpan="1" hMerge="false" rowSpan="1" vMerge="false">
                  <a:txBody>
                    <a:bodyPr/>
                    <a:p>
                      <a:r>
                        <a:t>Калькулятор физический</a:t>
                      </a:r>
                    </a:p>
                  </a:txBody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+</a:t>
                      </a:r>
                    </a:p>
                  </a:txBody>
                  <a:tcPr anchor="ctr" anchorCtr="false" marB="45720" marL="91440" marR="91440" marT="45720" vert="horz"/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-</a:t>
                      </a:r>
                    </a:p>
                  </a:txBody>
                  <a:tcPr anchor="ctr" anchorCtr="false" marB="45720" marL="91440" marR="91440" marT="45720" vert="horz"/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+</a:t>
                      </a:r>
                    </a:p>
                  </a:txBody>
                  <a:tcPr anchor="ctr" anchorCtr="false" marB="45720" marL="91440" marR="91440" marT="45720" vert="horz"/>
                </a:tc>
              </a:tr>
              <a:tr h="809835">
                <a:tc gridSpan="1" hMerge="false" rowSpan="1" vMerge="false">
                  <a:txBody>
                    <a:bodyPr/>
                    <a:p>
                      <a:r>
                        <a:t>This is not a game</a:t>
                      </a:r>
                    </a:p>
                  </a:txBody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+</a:t>
                      </a:r>
                    </a:p>
                  </a:txBody>
                  <a:tcPr anchor="ctr" anchorCtr="false" marB="45720" marL="91440" marR="91440" marT="45720" vert="horz"/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+</a:t>
                      </a:r>
                    </a:p>
                  </a:txBody>
                  <a:tcPr anchor="ctr" anchorCtr="false" marB="45720" marL="91440" marR="91440" marT="45720" vert="horz"/>
                </a:tc>
                <a:tc gridSpan="1" hMerge="false" rowSpan="1" vMerge="false">
                  <a:txBody>
                    <a:bodyPr/>
                    <a:p>
                      <a:pPr algn="ctr"/>
                      <a:r>
                        <a:t>+-</a:t>
                      </a:r>
                    </a:p>
                  </a:txBody>
                  <a:tcPr anchor="ctr" anchorCtr="false" marB="45720" marL="91440" marR="91440" marT="45720" vert="horz"/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5" name="GroupShape 4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6" name="Shape 46"/>
          <p:cNvSpPr txBox="false"/>
          <p:nvPr isPhoto="false"/>
        </p:nvSpPr>
        <p:spPr>
          <a:xfrm flipH="false" flipV="false" rot="0">
            <a:off x="6553198" y="2819491"/>
            <a:ext cx="3804147" cy="3804147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7" name="Shape 47"/>
          <p:cNvSpPr txBox="true"/>
          <p:nvPr isPhoto="false">
            <p:ph idx="0" type="title"/>
          </p:nvPr>
        </p:nvSpPr>
        <p:spPr>
          <a:xfrm flipH="false" flipV="false" rot="0">
            <a:off x="127002" y="269966"/>
            <a:ext cx="7886705" cy="99420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>
              <a:buNone/>
            </a:pPr>
            <a:r>
              <a:rPr b="true" sz="3500"/>
              <a:t>Процесс создания</a:t>
            </a:r>
            <a:endParaRPr b="true" sz="3500"/>
          </a:p>
        </p:txBody>
      </p:sp>
      <p:pic>
        <p:nvPicPr>
          <p:cNvPr hidden="false" id="49" name="Picture 49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95250" y="1476466"/>
            <a:ext cx="1841026" cy="2870383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pic>
        <p:nvPicPr>
          <p:cNvPr hidden="false" id="51" name="Picture 51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1968502" y="1476466"/>
            <a:ext cx="5143505" cy="2862350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pic>
        <p:nvPicPr>
          <p:cNvPr hidden="false" id="53" name="Picture 53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7112002" y="1476466"/>
            <a:ext cx="2054549" cy="2857683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sp>
        <p:nvSpPr>
          <p:cNvPr hidden="false" id="54" name="Shape 54"/>
          <p:cNvSpPr txBox="false"/>
          <p:nvPr isPhoto="false"/>
        </p:nvSpPr>
        <p:spPr>
          <a:xfrm flipH="false" flipV="false" rot="0">
            <a:off x="4438650" y="-914308"/>
            <a:ext cx="1841997" cy="1880097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5" name="Shape 55"/>
          <p:cNvSpPr txBox="false"/>
          <p:nvPr isPhoto="false"/>
        </p:nvSpPr>
        <p:spPr>
          <a:xfrm flipH="false" flipV="false" rot="0">
            <a:off x="5372099" y="-114208"/>
            <a:ext cx="3975598" cy="1079997"/>
          </a:xfrm>
          <a:prstGeom prst="rect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6" name="Shape 56"/>
          <p:cNvSpPr txBox="false"/>
          <p:nvPr isPhoto="false"/>
        </p:nvSpPr>
        <p:spPr>
          <a:xfrm flipH="false" flipV="false" rot="0">
            <a:off x="-19050" y="4610191"/>
            <a:ext cx="9252448" cy="1079997"/>
          </a:xfrm>
          <a:prstGeom prst="rect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57" name="GroupShape 5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8" name="Shape 5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indent="0" marL="0">
              <a:buNone/>
            </a:pPr>
            <a:r>
              <a:rPr b="true" sz="3500"/>
              <a:t>Используемые технологии:</a:t>
            </a:r>
            <a:endParaRPr b="true" sz="3500"/>
          </a:p>
        </p:txBody>
      </p:sp>
      <p:sp>
        <p:nvSpPr>
          <p:cNvPr hidden="false" id="59" name="Shape 59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5" cy="3549369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indent="-385762" marL="385762">
              <a:buFont typeface="Wingdings"/>
              <a:buChar char="q"/>
            </a:pPr>
            <a:r>
              <a:rPr b="true" sz="2200"/>
              <a:t>Движок:</a:t>
            </a:r>
            <a:br>
              <a:rPr b="false" sz="2000"/>
            </a:br>
            <a:r>
              <a:rPr b="true" sz="2000"/>
              <a:t>PyQt6</a:t>
            </a:r>
            <a:r>
              <a:rPr b="false" sz="2000"/>
              <a:t> – Меню (Временно)</a:t>
            </a:r>
            <a:br>
              <a:rPr b="false" sz="2000"/>
            </a:br>
            <a:r>
              <a:rPr b="true" sz="2000"/>
              <a:t>Arcade</a:t>
            </a:r>
            <a:r>
              <a:rPr b="false" sz="2000"/>
              <a:t> – Основной движок игры </a:t>
            </a:r>
            <a:br>
              <a:rPr b="false" sz="2000"/>
            </a:br>
            <a:r>
              <a:rPr b="true" sz="2000"/>
              <a:t>Гибрид Arcade physic engine и кастомного движка</a:t>
            </a:r>
            <a:r>
              <a:rPr b="false" sz="2000"/>
              <a:t> – используется для улучшенной обработки физики объектов</a:t>
            </a:r>
            <a:endParaRPr b="false" sz="2000"/>
          </a:p>
          <a:p>
            <a:pPr indent="-385762" marL="385762">
              <a:buFont typeface="Wingdings"/>
              <a:buChar char="q"/>
            </a:pPr>
            <a:r>
              <a:rPr b="true" sz="2200"/>
              <a:t>Вспомогательные библиотеки:</a:t>
            </a:r>
            <a:br>
              <a:rPr b="false" sz="2000"/>
            </a:br>
            <a:r>
              <a:rPr b="true" sz="2000"/>
              <a:t>math</a:t>
            </a:r>
            <a:r>
              <a:rPr b="false" sz="2000"/>
              <a:t> – для обработки сложных математических операций</a:t>
            </a:r>
            <a:br>
              <a:rPr b="false" sz="2000"/>
            </a:br>
            <a:r>
              <a:rPr b="true" sz="2000"/>
              <a:t>sys</a:t>
            </a:r>
            <a:r>
              <a:rPr b="false" sz="2000"/>
              <a:t> – для работы со строками и информацией</a:t>
            </a:r>
            <a:br>
              <a:rPr b="false" sz="2000"/>
            </a:br>
            <a:r>
              <a:rPr b="true" sz="2000"/>
              <a:t>random</a:t>
            </a:r>
            <a:r>
              <a:rPr b="false" sz="2000"/>
              <a:t> – для генерации и получения случайных чисел</a:t>
            </a:r>
            <a:endParaRPr b="false" sz="2000"/>
          </a:p>
          <a:p>
            <a:pPr indent="-385762" marL="385762">
              <a:buFont typeface="Wingdings"/>
              <a:buChar char="q"/>
            </a:pPr>
            <a:r>
              <a:rPr b="true" sz="2200"/>
              <a:t>Дополнительные решения:</a:t>
            </a:r>
            <a:br>
              <a:rPr b="false" sz="2000"/>
            </a:br>
            <a:r>
              <a:rPr b="false" sz="2000"/>
              <a:t>Файл </a:t>
            </a:r>
            <a:r>
              <a:rPr b="true" sz="2000"/>
              <a:t>TitleBar</a:t>
            </a:r>
            <a:r>
              <a:rPr b="false" sz="2000"/>
              <a:t> – самописный метод для кастомного тайтл-бара приложения</a:t>
            </a:r>
            <a:br>
              <a:rPr b="false" sz="2000"/>
            </a:br>
            <a:br>
              <a:rPr b="false" sz="2000"/>
            </a:br>
            <a:endParaRPr b="false" sz="2000"/>
          </a:p>
        </p:txBody>
      </p:sp>
      <p:sp>
        <p:nvSpPr>
          <p:cNvPr hidden="false" id="60" name="Shape 60"/>
          <p:cNvSpPr txBox="false"/>
          <p:nvPr isPhoto="false"/>
        </p:nvSpPr>
        <p:spPr>
          <a:xfrm flipH="false" flipV="false" rot="0">
            <a:off x="-263766" y="-56987"/>
            <a:ext cx="9546665" cy="575254"/>
          </a:xfrm>
          <a:prstGeom prst="rect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1" name="Shape 61"/>
          <p:cNvSpPr txBox="false"/>
          <p:nvPr isPhoto="false"/>
        </p:nvSpPr>
        <p:spPr>
          <a:xfrm flipH="false" flipV="false" rot="0">
            <a:off x="-402164" y="4949743"/>
            <a:ext cx="9766472" cy="1079998"/>
          </a:xfrm>
          <a:prstGeom prst="rect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2" name="Shape 62"/>
          <p:cNvSpPr txBox="false"/>
          <p:nvPr isPhoto="false"/>
        </p:nvSpPr>
        <p:spPr>
          <a:xfrm flipH="false" flipV="false" rot="0">
            <a:off x="6875913" y="-1758461"/>
            <a:ext cx="4523652" cy="4523652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3" name="Shape 63"/>
          <p:cNvSpPr txBox="false"/>
          <p:nvPr isPhoto="false"/>
        </p:nvSpPr>
        <p:spPr>
          <a:xfrm flipH="false" flipV="false" rot="0">
            <a:off x="-1476779" y="3850705"/>
            <a:ext cx="2879164" cy="2879165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64" name="GroupShape 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5" name="Shape 65"/>
          <p:cNvSpPr txBox="false"/>
          <p:nvPr isPhoto="false"/>
        </p:nvSpPr>
        <p:spPr>
          <a:xfrm flipH="false" flipV="false" rot="0">
            <a:off x="-7477122" y="-880971"/>
            <a:ext cx="15024596" cy="3318373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6" name="Shape 66"/>
          <p:cNvSpPr txBox="false"/>
          <p:nvPr isPhoto="false"/>
        </p:nvSpPr>
        <p:spPr>
          <a:xfrm flipH="false" flipV="false" rot="0">
            <a:off x="571502" y="3476716"/>
            <a:ext cx="15024596" cy="3318372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  <a:headEnd type="none"/>
            <a:tailEnd type="none"/>
          </a:ln>
        </p:spPr>
        <p:txBody>
          <a:bodyPr anchor="ctr" bIns="46799" lIns="89999" rIns="89999" tIns="46799" wrap="square"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indent="0" lvl="8" marL="3657600">
              <a:buNone/>
            </a:lvl9pPr>
          </a:lstStyle>
          <a:p>
            <a:pPr algn="ctr" indent="0" marL="0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7" name="Shape 6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 indent="0" marL="0">
              <a:buNone/>
            </a:pPr>
            <a:r>
              <a:rPr b="true" sz="3500">
                <a:solidFill>
                  <a:srgbClr val="FFFFFF"/>
                </a:solidFill>
              </a:rPr>
              <a:t>Игровой процесс</a:t>
            </a:r>
            <a:endParaRPr b="true" sz="3500">
              <a:solidFill>
                <a:srgbClr val="FFFFFF"/>
              </a:solidFill>
            </a:endParaRPr>
          </a:p>
        </p:txBody>
      </p:sp>
      <p:pic>
        <p:nvPicPr>
          <p:cNvPr hidden="false" id="69" name="Picture 69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666750" y="1390741"/>
            <a:ext cx="2435809" cy="3448233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pic>
        <p:nvPicPr>
          <p:cNvPr hidden="false" id="71" name="Picture 71"/>
          <p:cNvPicPr preferRelativeResize="true"/>
          <p:nvPr isPhoto="false"/>
        </p:nvPicPr>
        <p:blipFill>
          <a:blip r:embed="rId2"/>
          <a:stretch/>
        </p:blipFill>
        <p:spPr>
          <a:xfrm flipH="false" flipV="false" rot="0">
            <a:off x="3638550" y="1352641"/>
            <a:ext cx="2066477" cy="3448233"/>
          </a:xfrm>
          <a:prstGeom prst="rect">
            <a:avLst/>
          </a:prstGeom>
          <a:ln>
            <a:noFill/>
            <a:headEnd type="none"/>
            <a:tailEnd type="none"/>
          </a:ln>
        </p:spPr>
      </p:pic>
      <p:pic>
        <p:nvPicPr>
          <p:cNvPr hidden="false" id="73" name="Picture 73"/>
          <p:cNvPicPr preferRelativeResize="true"/>
          <p:nvPr isPhoto="false"/>
        </p:nvPicPr>
        <p:blipFill>
          <a:blip r:embed="rId3"/>
          <a:stretch/>
        </p:blipFill>
        <p:spPr>
          <a:xfrm flipH="false" flipV="false" rot="0">
            <a:off x="6476999" y="1371691"/>
            <a:ext cx="2066774" cy="3467283"/>
          </a:xfrm>
          <a:prstGeom prst="rect">
            <a:avLst/>
          </a:prstGeom>
          <a:ln>
            <a:noFill/>
            <a:headEnd type="none"/>
            <a:tailEnd type="none"/>
          </a:ln>
        </p:spPr>
      </p:pic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4" name="GroupShape 7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5" name="Shape 75"/>
          <p:cNvSpPr txBox="false"/>
          <p:nvPr isPhoto="false"/>
        </p:nvSpPr>
        <p:spPr>
          <a:xfrm flipH="false" flipV="false" rot="0">
            <a:off x="-1370946" y="1823589"/>
            <a:ext cx="2260447" cy="2260446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6" name="Shape 76"/>
          <p:cNvSpPr txBox="false"/>
          <p:nvPr isPhoto="false"/>
        </p:nvSpPr>
        <p:spPr>
          <a:xfrm flipH="false" flipV="false" rot="0">
            <a:off x="1804053" y="2540000"/>
            <a:ext cx="2260447" cy="2260446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444502" y="1302564"/>
            <a:ext cx="8341793" cy="2382561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true"/>
          <p:nvPr isPhoto="false">
            <p:ph idx="0" type="title"/>
          </p:nvPr>
        </p:nvSpPr>
        <p:spPr>
          <a:xfrm flipH="false" flipV="false" rot="0">
            <a:off x="631746" y="276794"/>
            <a:ext cx="7886705" cy="994208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algn="ctr">
              <a:buNone/>
            </a:pPr>
            <a:r>
              <a:rPr b="true" sz="3500"/>
              <a:t>Итог</a:t>
            </a:r>
            <a:endParaRPr b="true" sz="3500"/>
          </a:p>
        </p:txBody>
      </p:sp>
      <p:sp>
        <p:nvSpPr>
          <p:cNvPr hidden="false" id="79" name="Shape 79"/>
          <p:cNvSpPr txBox="true"/>
          <p:nvPr isPhoto="false">
            <p:ph idx="1" type="body"/>
          </p:nvPr>
        </p:nvSpPr>
        <p:spPr>
          <a:xfrm flipH="false" flipV="false" rot="0">
            <a:off x="631746" y="936217"/>
            <a:ext cx="7886705" cy="3263619"/>
          </a:xfrm>
          <a:prstGeom prst="rect">
            <a:avLst/>
          </a:prstGeom>
        </p:spPr>
        <p:txBody>
          <a:bodyPr anchor="ctr"/>
          <a:lstStyle>
            <a:defPPr/>
            <a:lvl1pPr lvl="0"/>
          </a:lstStyle>
          <a:p>
            <a:pPr algn="l" indent="-314325" marL="31432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t>Мы усердно трудимся над проектом и боремся со своей прокрастинацией с помощьюю печенек и сухариков и после сдачи проекта хотели бы продолжить разработку</a:t>
            </a:r>
          </a:p>
          <a:p>
            <a:pPr algn="l" indent="-314325" marL="31432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t>Делаем интересный и оригинальный геймплей</a:t>
            </a:r>
          </a:p>
          <a:p>
            <a:pPr algn="l" indent="-314325" marL="314325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t>Роме должны больше одной пачки сухариков</a:t>
            </a:r>
          </a:p>
        </p:txBody>
      </p:sp>
      <p:sp>
        <p:nvSpPr>
          <p:cNvPr hidden="false" id="80" name="Shape 80"/>
          <p:cNvSpPr txBox="false"/>
          <p:nvPr isPhoto="false"/>
        </p:nvSpPr>
        <p:spPr>
          <a:xfrm flipH="false" flipV="false" rot="0">
            <a:off x="6379310" y="56987"/>
            <a:ext cx="974164" cy="946305"/>
          </a:xfrm>
          <a:prstGeom prst="star5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1" name="Shape 81"/>
          <p:cNvSpPr txBox="false"/>
          <p:nvPr isPhoto="false"/>
        </p:nvSpPr>
        <p:spPr>
          <a:xfrm flipH="false" flipV="false" rot="0">
            <a:off x="7559759" y="480320"/>
            <a:ext cx="778780" cy="759061"/>
          </a:xfrm>
          <a:prstGeom prst="star5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2" name="Shape 82"/>
          <p:cNvSpPr txBox="false"/>
          <p:nvPr isPhoto="false"/>
        </p:nvSpPr>
        <p:spPr>
          <a:xfrm flipH="false" flipV="false" rot="0">
            <a:off x="7958670" y="1408397"/>
            <a:ext cx="591536" cy="571818"/>
          </a:xfrm>
          <a:prstGeom prst="star5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3" name="Shape 83"/>
          <p:cNvSpPr txBox="false"/>
          <p:nvPr isPhoto="false"/>
        </p:nvSpPr>
        <p:spPr>
          <a:xfrm flipH="false" flipV="false" rot="0">
            <a:off x="8789054" y="1310705"/>
            <a:ext cx="518266" cy="506690"/>
          </a:xfrm>
          <a:prstGeom prst="star5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false"/>
          <p:nvPr isPhoto="false"/>
        </p:nvSpPr>
        <p:spPr>
          <a:xfrm flipH="false" flipV="false" rot="0">
            <a:off x="8414567" y="130256"/>
            <a:ext cx="982305" cy="962587"/>
          </a:xfrm>
          <a:prstGeom prst="star5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false"/>
          <p:nvPr isPhoto="false"/>
        </p:nvSpPr>
        <p:spPr>
          <a:xfrm flipH="false" flipV="false" rot="0">
            <a:off x="7193413" y="-1033910"/>
            <a:ext cx="1446345" cy="1410344"/>
          </a:xfrm>
          <a:prstGeom prst="star5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-280048" y="3997243"/>
            <a:ext cx="2366280" cy="2366280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false"/>
          <p:nvPr isPhoto="false"/>
        </p:nvSpPr>
        <p:spPr>
          <a:xfrm flipH="false" flipV="false" rot="0">
            <a:off x="3839310" y="4046089"/>
            <a:ext cx="2260447" cy="2260446"/>
          </a:xfrm>
          <a:prstGeom prst="diamond">
            <a:avLst/>
          </a:prstGeom>
          <a:solidFill>
            <a:srgbClr val="862CD3"/>
          </a:solidFill>
          <a:ln w="12700">
            <a:solidFill>
              <a:srgbClr val="862CD3"/>
            </a:solidFill>
            <a:prstDash val="solid"/>
          </a:ln>
        </p:spPr>
        <p:txBody>
          <a:bodyPr anchor="ctr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endParaRPr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MyOffice-CoreFramework-Windows/36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2026-01-27T21:27:28Z</dcterms:created>
  <dcterms:modified xsi:type="dcterms:W3CDTF">2026-01-27T21:27:28Z</dcterms:modified>
</cp:coreProperties>
</file>